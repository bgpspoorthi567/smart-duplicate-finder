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08" r:id="rId3"/>
    <p:sldId id="310" r:id="rId4"/>
    <p:sldId id="311" r:id="rId5"/>
    <p:sldId id="315" r:id="rId6"/>
    <p:sldId id="309" r:id="rId7"/>
    <p:sldId id="312" r:id="rId8"/>
    <p:sldId id="313" r:id="rId9"/>
    <p:sldId id="316" r:id="rId10"/>
    <p:sldId id="333" r:id="rId11"/>
    <p:sldId id="317" r:id="rId12"/>
    <p:sldId id="340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8" r:id="rId23"/>
    <p:sldId id="342" r:id="rId24"/>
    <p:sldId id="329" r:id="rId25"/>
    <p:sldId id="330" r:id="rId26"/>
    <p:sldId id="341" r:id="rId27"/>
    <p:sldId id="343" r:id="rId28"/>
    <p:sldId id="334" r:id="rId29"/>
    <p:sldId id="335" r:id="rId30"/>
    <p:sldId id="336" r:id="rId31"/>
    <p:sldId id="337" r:id="rId32"/>
    <p:sldId id="338" r:id="rId33"/>
    <p:sldId id="33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mar Debasis" initials="KD" lastIdx="1" clrIdx="0">
    <p:extLst>
      <p:ext uri="{19B8F6BF-5375-455C-9EA6-DF929625EA0E}">
        <p15:presenceInfo xmlns:p15="http://schemas.microsoft.com/office/powerpoint/2012/main" userId="6026fabf6678cc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000" autoAdjust="0"/>
    <p:restoredTop sz="94364" autoAdjust="0"/>
  </p:normalViewPr>
  <p:slideViewPr>
    <p:cSldViewPr snapToGrid="0">
      <p:cViewPr varScale="1">
        <p:scale>
          <a:sx n="79" d="100"/>
          <a:sy n="79" d="100"/>
        </p:scale>
        <p:origin x="1648" y="10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7A16-3C0A-4E4B-95A2-F57375214A4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BC3-A62C-4543-B17A-AE515452A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7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9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9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7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2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2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8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8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0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DBE19-44DA-4F73-9814-C939FA4443A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C1058-9B72-4480-B8FE-5428014F7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1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tevidyalay.com/go-back-n-practice-problem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COMPUTER NETWORKS – PART 10</a:t>
            </a:r>
          </a:p>
        </p:txBody>
      </p:sp>
    </p:spTree>
    <p:extLst>
      <p:ext uri="{BB962C8B-B14F-4D97-AF65-F5344CB8AC3E}">
        <p14:creationId xmlns:p14="http://schemas.microsoft.com/office/powerpoint/2010/main" val="425184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5911"/>
            <a:ext cx="10515600" cy="586854"/>
          </a:xfrm>
        </p:spPr>
        <p:txBody>
          <a:bodyPr>
            <a:normAutofit/>
          </a:bodyPr>
          <a:lstStyle/>
          <a:p>
            <a:r>
              <a:rPr lang="en-US" sz="3600" b="1" dirty="0"/>
              <a:t>What is Flow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8299"/>
            <a:ext cx="10515600" cy="4948664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Flow control is a technique that </a:t>
            </a:r>
            <a:r>
              <a:rPr lang="en-US" sz="2400" dirty="0">
                <a:solidFill>
                  <a:srgbClr val="FF0000"/>
                </a:solidFill>
              </a:rPr>
              <a:t>allows two stations working at different speeds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FF0000"/>
                </a:solidFill>
              </a:rPr>
              <a:t>communicate with each other. </a:t>
            </a:r>
          </a:p>
          <a:p>
            <a:pPr algn="just"/>
            <a:r>
              <a:rPr lang="en-US" sz="2400" dirty="0"/>
              <a:t>It is a </a:t>
            </a:r>
            <a:r>
              <a:rPr lang="en-US" sz="2400" dirty="0">
                <a:solidFill>
                  <a:srgbClr val="FF0000"/>
                </a:solidFill>
              </a:rPr>
              <a:t>set of measures </a:t>
            </a:r>
            <a:r>
              <a:rPr lang="en-US" sz="2400" dirty="0"/>
              <a:t>taken to </a:t>
            </a:r>
            <a:r>
              <a:rPr lang="en-US" sz="2400" dirty="0">
                <a:solidFill>
                  <a:srgbClr val="FF0000"/>
                </a:solidFill>
              </a:rPr>
              <a:t>regulate the amount of data </a:t>
            </a:r>
            <a:r>
              <a:rPr lang="en-US" sz="2400" dirty="0"/>
              <a:t>that a sender sends so that a </a:t>
            </a:r>
            <a:r>
              <a:rPr lang="en-US" sz="2400" dirty="0">
                <a:solidFill>
                  <a:srgbClr val="FF0000"/>
                </a:solidFill>
              </a:rPr>
              <a:t>fast sender does not overwhelm a slow receiver.</a:t>
            </a:r>
          </a:p>
          <a:p>
            <a:pPr algn="just"/>
            <a:r>
              <a:rPr lang="en-US" sz="2400" dirty="0"/>
              <a:t>Flow control in </a:t>
            </a:r>
            <a:r>
              <a:rPr lang="en-US" sz="2400" dirty="0">
                <a:solidFill>
                  <a:srgbClr val="FF0000"/>
                </a:solidFill>
              </a:rPr>
              <a:t>Data Link Layer</a:t>
            </a:r>
            <a:r>
              <a:rPr lang="en-US" sz="2400" dirty="0"/>
              <a:t> simply </a:t>
            </a:r>
            <a:r>
              <a:rPr lang="en-US" sz="2400" dirty="0">
                <a:solidFill>
                  <a:srgbClr val="FF0000"/>
                </a:solidFill>
              </a:rPr>
              <a:t>restricts and coordinates </a:t>
            </a:r>
            <a:r>
              <a:rPr lang="en-US" sz="2400" dirty="0"/>
              <a:t>number of frames or amount of data sender can send </a:t>
            </a:r>
            <a:r>
              <a:rPr lang="en-US" sz="2400" dirty="0">
                <a:solidFill>
                  <a:srgbClr val="FF0000"/>
                </a:solidFill>
              </a:rPr>
              <a:t>just before it waits for an acknowledgement </a:t>
            </a:r>
            <a:r>
              <a:rPr lang="en-US" sz="2400" dirty="0"/>
              <a:t>from receiver.</a:t>
            </a:r>
          </a:p>
          <a:p>
            <a:pPr algn="just"/>
            <a:r>
              <a:rPr lang="en-US" sz="2400" dirty="0"/>
              <a:t>The receiver needs a </a:t>
            </a:r>
            <a:r>
              <a:rPr lang="en-US" sz="2400" dirty="0">
                <a:solidFill>
                  <a:srgbClr val="FF0000"/>
                </a:solidFill>
              </a:rPr>
              <a:t>buffer for storing data or frames</a:t>
            </a:r>
            <a:r>
              <a:rPr lang="en-US" sz="2400" dirty="0"/>
              <a:t> until they are processed.</a:t>
            </a:r>
          </a:p>
          <a:p>
            <a:pPr algn="just"/>
            <a:r>
              <a:rPr lang="en-US" sz="2400" dirty="0"/>
              <a:t>Flow Control is classified into two categories:</a:t>
            </a:r>
          </a:p>
          <a:p>
            <a:pPr lvl="1" algn="just"/>
            <a:r>
              <a:rPr lang="en-US" b="1" i="1" dirty="0"/>
              <a:t>Feedback based Flow Control: </a:t>
            </a:r>
            <a:r>
              <a:rPr lang="en-US" dirty="0"/>
              <a:t>In these protocols, the sender sends frames </a:t>
            </a:r>
            <a:r>
              <a:rPr lang="en-US" dirty="0">
                <a:solidFill>
                  <a:srgbClr val="FF0000"/>
                </a:solidFill>
              </a:rPr>
              <a:t>after it has received acknowledgments </a:t>
            </a:r>
            <a:r>
              <a:rPr lang="en-US" dirty="0"/>
              <a:t>from the user.</a:t>
            </a:r>
          </a:p>
          <a:p>
            <a:pPr lvl="1" algn="just"/>
            <a:r>
              <a:rPr lang="en-US" b="1" i="1" dirty="0"/>
              <a:t>Rate based Flow Control:</a:t>
            </a:r>
            <a:r>
              <a:rPr lang="en-US" dirty="0"/>
              <a:t> These protocols have built in mechanisms to restrict the rate of transmission of data </a:t>
            </a:r>
            <a:r>
              <a:rPr lang="en-US" dirty="0">
                <a:solidFill>
                  <a:srgbClr val="FF0000"/>
                </a:solidFill>
              </a:rPr>
              <a:t>without requiring acknowledgment from the receiver.</a:t>
            </a:r>
          </a:p>
        </p:txBody>
      </p:sp>
    </p:spTree>
    <p:extLst>
      <p:ext uri="{BB962C8B-B14F-4D97-AF65-F5344CB8AC3E}">
        <p14:creationId xmlns:p14="http://schemas.microsoft.com/office/powerpoint/2010/main" val="403165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8049"/>
            <a:ext cx="10515600" cy="586854"/>
          </a:xfrm>
        </p:spPr>
        <p:txBody>
          <a:bodyPr>
            <a:normAutofit/>
          </a:bodyPr>
          <a:lstStyle/>
          <a:p>
            <a:r>
              <a:rPr lang="en-US" sz="3600" b="1" dirty="0"/>
              <a:t>What is Error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51629"/>
            <a:ext cx="10515600" cy="4225333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Error control in data link layer is the </a:t>
            </a:r>
            <a:r>
              <a:rPr lang="en-US" sz="2600" dirty="0">
                <a:solidFill>
                  <a:srgbClr val="FF0000"/>
                </a:solidFill>
              </a:rPr>
              <a:t>process of detecting and correcting data frames that have been corrupted or lost during transmission.</a:t>
            </a:r>
          </a:p>
          <a:p>
            <a:pPr algn="just"/>
            <a:r>
              <a:rPr lang="en-US" sz="2600" dirty="0"/>
              <a:t>Data link layer follows a technique to </a:t>
            </a:r>
            <a:r>
              <a:rPr lang="en-US" sz="2600" dirty="0">
                <a:solidFill>
                  <a:srgbClr val="FF0000"/>
                </a:solidFill>
              </a:rPr>
              <a:t>detect transit errors </a:t>
            </a:r>
            <a:r>
              <a:rPr lang="en-US" sz="2600" dirty="0"/>
              <a:t>and take necessary actions, which is </a:t>
            </a:r>
            <a:r>
              <a:rPr lang="en-US" sz="2600" dirty="0">
                <a:solidFill>
                  <a:srgbClr val="FF0000"/>
                </a:solidFill>
              </a:rPr>
              <a:t>retransmission of frames whenever error </a:t>
            </a:r>
            <a:r>
              <a:rPr lang="en-US" sz="2600" dirty="0"/>
              <a:t>is </a:t>
            </a:r>
            <a:r>
              <a:rPr lang="en-US" sz="2600" b="1" dirty="0">
                <a:solidFill>
                  <a:srgbClr val="FF0000"/>
                </a:solidFill>
              </a:rPr>
              <a:t>detected or frame is lost. </a:t>
            </a:r>
            <a:r>
              <a:rPr lang="en-US" sz="2600" dirty="0"/>
              <a:t>The process is called </a:t>
            </a:r>
            <a:r>
              <a:rPr lang="en-US" sz="2600" i="1" dirty="0">
                <a:solidFill>
                  <a:srgbClr val="FF0000"/>
                </a:solidFill>
              </a:rPr>
              <a:t>Automatic Repeat Request </a:t>
            </a:r>
            <a:r>
              <a:rPr lang="en-US" sz="2600" dirty="0">
                <a:solidFill>
                  <a:srgbClr val="FF0000"/>
                </a:solidFill>
              </a:rPr>
              <a:t>(ARQ).</a:t>
            </a:r>
          </a:p>
        </p:txBody>
      </p:sp>
    </p:spTree>
    <p:extLst>
      <p:ext uri="{BB962C8B-B14F-4D97-AF65-F5344CB8AC3E}">
        <p14:creationId xmlns:p14="http://schemas.microsoft.com/office/powerpoint/2010/main" val="1410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0376"/>
            <a:ext cx="10515600" cy="57265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b="1" dirty="0"/>
              <a:t>Phases in Error Control</a:t>
            </a:r>
          </a:p>
          <a:p>
            <a:pPr algn="just"/>
            <a:r>
              <a:rPr lang="en-US" sz="2500" dirty="0"/>
              <a:t>The error control mechanism in data link layer involves the following phases.</a:t>
            </a:r>
          </a:p>
          <a:p>
            <a:pPr lvl="1" algn="just"/>
            <a:r>
              <a:rPr lang="en-US" sz="2500" b="1" i="1" dirty="0"/>
              <a:t>Detection of Error </a:t>
            </a:r>
            <a:r>
              <a:rPr lang="en-US" sz="2500" dirty="0"/>
              <a:t>− Transmission error, if any, is detected by the receiver and notified to the sender.</a:t>
            </a:r>
          </a:p>
          <a:p>
            <a:pPr lvl="1" algn="just"/>
            <a:r>
              <a:rPr lang="en-US" sz="2500" b="1" i="1" dirty="0"/>
              <a:t>Acknowledgment</a:t>
            </a:r>
            <a:r>
              <a:rPr lang="en-US" sz="2500" dirty="0"/>
              <a:t> − acknowledgment may be positive or negative.</a:t>
            </a:r>
          </a:p>
          <a:p>
            <a:pPr lvl="2" algn="just"/>
            <a:r>
              <a:rPr lang="en-US" sz="2500" i="1" u="sng" dirty="0"/>
              <a:t>Positive ACK </a:t>
            </a:r>
            <a:r>
              <a:rPr lang="en-US" sz="2500" dirty="0"/>
              <a:t>− On </a:t>
            </a:r>
            <a:r>
              <a:rPr lang="en-US" sz="2500" dirty="0">
                <a:solidFill>
                  <a:srgbClr val="FF0000"/>
                </a:solidFill>
              </a:rPr>
              <a:t>receiving a correct frame</a:t>
            </a:r>
            <a:r>
              <a:rPr lang="en-US" sz="2500" dirty="0"/>
              <a:t>, the receiver sends a positive acknowledge.</a:t>
            </a:r>
          </a:p>
          <a:p>
            <a:pPr lvl="2" algn="just"/>
            <a:r>
              <a:rPr lang="en-US" sz="2500" i="1" u="sng" dirty="0"/>
              <a:t>Negative ACK </a:t>
            </a:r>
            <a:r>
              <a:rPr lang="en-US" sz="2500" dirty="0"/>
              <a:t>− On receiving a </a:t>
            </a:r>
            <a:r>
              <a:rPr lang="en-US" sz="2500" dirty="0">
                <a:solidFill>
                  <a:srgbClr val="FF0000"/>
                </a:solidFill>
              </a:rPr>
              <a:t>damaged frame or receiving no frame</a:t>
            </a:r>
            <a:r>
              <a:rPr lang="en-US" sz="2500" dirty="0"/>
              <a:t>, the receiver sends a negative acknowledgment back to the sender.</a:t>
            </a:r>
          </a:p>
          <a:p>
            <a:pPr algn="just"/>
            <a:r>
              <a:rPr lang="en-US" sz="2500" b="1" i="1" dirty="0"/>
              <a:t>Retransmission</a:t>
            </a:r>
            <a:r>
              <a:rPr lang="en-US" sz="2500" dirty="0"/>
              <a:t> − The </a:t>
            </a:r>
            <a:r>
              <a:rPr lang="en-US" sz="2500" b="1" dirty="0">
                <a:solidFill>
                  <a:srgbClr val="FF0000"/>
                </a:solidFill>
              </a:rPr>
              <a:t>sender maintains a clock and sets a timeout period. </a:t>
            </a:r>
            <a:r>
              <a:rPr lang="en-US" sz="2500" dirty="0"/>
              <a:t>If an acknowledgment of a data-frame previously transmitted does not arrive before the timeout, or a negative acknowledgment is received, the sender retransmits the frame.</a:t>
            </a:r>
          </a:p>
        </p:txBody>
      </p:sp>
    </p:spTree>
    <p:extLst>
      <p:ext uri="{BB962C8B-B14F-4D97-AF65-F5344CB8AC3E}">
        <p14:creationId xmlns:p14="http://schemas.microsoft.com/office/powerpoint/2010/main" val="3325621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ata Link Control - T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467" y="946020"/>
            <a:ext cx="6804783" cy="48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37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5911"/>
            <a:ext cx="10515600" cy="586854"/>
          </a:xfrm>
        </p:spPr>
        <p:txBody>
          <a:bodyPr>
            <a:normAutofit/>
          </a:bodyPr>
          <a:lstStyle/>
          <a:p>
            <a:r>
              <a:rPr lang="en-US" sz="3200" b="1" dirty="0"/>
              <a:t>Simplest Protocol – no flow control or error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8299"/>
            <a:ext cx="10515600" cy="4948664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Simplest Protocol is a protocol that neither has </a:t>
            </a:r>
            <a:r>
              <a:rPr lang="en-US" sz="2400" dirty="0">
                <a:solidFill>
                  <a:srgbClr val="FF0000"/>
                </a:solidFill>
              </a:rPr>
              <a:t>flow control nor has error control. </a:t>
            </a:r>
            <a:r>
              <a:rPr lang="en-US" sz="2400" dirty="0"/>
              <a:t>This can be used in </a:t>
            </a:r>
            <a:r>
              <a:rPr lang="en-US" sz="2400" dirty="0">
                <a:solidFill>
                  <a:srgbClr val="FF0000"/>
                </a:solidFill>
              </a:rPr>
              <a:t>noiseless channels.</a:t>
            </a:r>
          </a:p>
          <a:p>
            <a:pPr algn="just"/>
            <a:r>
              <a:rPr lang="en-US" sz="2400" dirty="0"/>
              <a:t>The simplest protocol is basically a </a:t>
            </a:r>
            <a:r>
              <a:rPr lang="en-US" sz="2400" dirty="0">
                <a:solidFill>
                  <a:srgbClr val="FF0000"/>
                </a:solidFill>
              </a:rPr>
              <a:t>unidirectional protocol </a:t>
            </a:r>
            <a:r>
              <a:rPr lang="en-US" sz="2400" dirty="0"/>
              <a:t>in which data frames only </a:t>
            </a:r>
            <a:r>
              <a:rPr lang="en-US" sz="2400" dirty="0">
                <a:solidFill>
                  <a:srgbClr val="FF0000"/>
                </a:solidFill>
              </a:rPr>
              <a:t>travel in one direction</a:t>
            </a:r>
            <a:r>
              <a:rPr lang="en-US" sz="2400" dirty="0"/>
              <a:t>; from the sender to the receiver.</a:t>
            </a:r>
          </a:p>
          <a:p>
            <a:pPr algn="just"/>
            <a:r>
              <a:rPr lang="en-US" sz="2400" dirty="0"/>
              <a:t>In this, the </a:t>
            </a:r>
            <a:r>
              <a:rPr lang="en-US" sz="2400" dirty="0">
                <a:solidFill>
                  <a:srgbClr val="FF0000"/>
                </a:solidFill>
              </a:rPr>
              <a:t>receiver can immediately handle the frame </a:t>
            </a:r>
            <a:r>
              <a:rPr lang="en-US" sz="2400" dirty="0"/>
              <a:t>it receives whose processing time is small enough to be considered as negligible.</a:t>
            </a:r>
          </a:p>
          <a:p>
            <a:pPr algn="just"/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9" y="3601373"/>
            <a:ext cx="7206606" cy="312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0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5911"/>
            <a:ext cx="10515600" cy="586854"/>
          </a:xfrm>
        </p:spPr>
        <p:txBody>
          <a:bodyPr>
            <a:normAutofit/>
          </a:bodyPr>
          <a:lstStyle/>
          <a:p>
            <a:r>
              <a:rPr lang="en-US" sz="3200" b="1" dirty="0"/>
              <a:t>Stop and Wait Protocol – only </a:t>
            </a:r>
            <a:r>
              <a:rPr lang="en-US" sz="3200" b="1" dirty="0">
                <a:solidFill>
                  <a:srgbClr val="FF0000"/>
                </a:solidFill>
              </a:rPr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8299"/>
            <a:ext cx="10515600" cy="4948664"/>
          </a:xfrm>
        </p:spPr>
        <p:txBody>
          <a:bodyPr>
            <a:noAutofit/>
          </a:bodyPr>
          <a:lstStyle/>
          <a:p>
            <a:pPr algn="just"/>
            <a:r>
              <a:rPr lang="en-US" sz="2500" dirty="0"/>
              <a:t>Stop and wait protocol can be used in </a:t>
            </a:r>
            <a:r>
              <a:rPr lang="en-US" sz="2500" dirty="0">
                <a:solidFill>
                  <a:srgbClr val="FF0000"/>
                </a:solidFill>
              </a:rPr>
              <a:t>noiseless channels.</a:t>
            </a:r>
          </a:p>
          <a:p>
            <a:pPr algn="just"/>
            <a:r>
              <a:rPr lang="en-US" sz="2500" b="1" dirty="0"/>
              <a:t>Sender side</a:t>
            </a:r>
            <a:endParaRPr lang="en-US" sz="2500" dirty="0"/>
          </a:p>
          <a:p>
            <a:pPr lvl="1" algn="just"/>
            <a:r>
              <a:rPr lang="en-US" sz="2500" b="1" dirty="0"/>
              <a:t>Rule 1:</a:t>
            </a:r>
            <a:r>
              <a:rPr lang="en-US" sz="2500" dirty="0"/>
              <a:t> Sender sends </a:t>
            </a:r>
            <a:r>
              <a:rPr lang="en-US" sz="2500" dirty="0">
                <a:solidFill>
                  <a:srgbClr val="FF0000"/>
                </a:solidFill>
              </a:rPr>
              <a:t>one data packet at a time.</a:t>
            </a:r>
          </a:p>
          <a:p>
            <a:pPr lvl="1" algn="just"/>
            <a:r>
              <a:rPr lang="en-US" sz="2500" b="1" dirty="0"/>
              <a:t>Rule 2:</a:t>
            </a:r>
            <a:r>
              <a:rPr lang="en-US" sz="2500" dirty="0"/>
              <a:t> Sender sends the </a:t>
            </a:r>
            <a:r>
              <a:rPr lang="en-US" sz="2500" dirty="0">
                <a:solidFill>
                  <a:srgbClr val="FF0000"/>
                </a:solidFill>
              </a:rPr>
              <a:t>next packet only when it receives </a:t>
            </a:r>
            <a:r>
              <a:rPr lang="en-US" sz="2500" dirty="0"/>
              <a:t>the </a:t>
            </a:r>
            <a:r>
              <a:rPr lang="en-US" sz="2500" dirty="0">
                <a:solidFill>
                  <a:srgbClr val="FF0000"/>
                </a:solidFill>
              </a:rPr>
              <a:t>acknowledgment of the previous packet.</a:t>
            </a:r>
          </a:p>
          <a:p>
            <a:pPr algn="just"/>
            <a:r>
              <a:rPr lang="en-US" sz="2500" b="1" dirty="0"/>
              <a:t>Receiver side</a:t>
            </a:r>
          </a:p>
          <a:p>
            <a:pPr lvl="1" algn="just"/>
            <a:r>
              <a:rPr lang="en-US" sz="2500" b="1" dirty="0"/>
              <a:t>Rule 1:</a:t>
            </a:r>
            <a:r>
              <a:rPr lang="en-US" sz="2500" dirty="0"/>
              <a:t> Receive and </a:t>
            </a:r>
            <a:r>
              <a:rPr lang="en-US" sz="2500" dirty="0">
                <a:solidFill>
                  <a:srgbClr val="FF0000"/>
                </a:solidFill>
              </a:rPr>
              <a:t>then consume the data packet</a:t>
            </a:r>
            <a:r>
              <a:rPr lang="en-US" sz="2500" dirty="0"/>
              <a:t>.</a:t>
            </a:r>
          </a:p>
          <a:p>
            <a:pPr lvl="1" algn="just"/>
            <a:r>
              <a:rPr lang="en-US" sz="2500" b="1" dirty="0"/>
              <a:t>Rule 2:</a:t>
            </a:r>
            <a:r>
              <a:rPr lang="en-US" sz="2500" dirty="0"/>
              <a:t> When the data packet is consumed, receiver sends the </a:t>
            </a:r>
            <a:r>
              <a:rPr lang="en-US" sz="2500" dirty="0">
                <a:solidFill>
                  <a:srgbClr val="FF0000"/>
                </a:solidFill>
              </a:rPr>
              <a:t>acknowledgment to the sender.</a:t>
            </a:r>
          </a:p>
        </p:txBody>
      </p:sp>
    </p:spTree>
    <p:extLst>
      <p:ext uri="{BB962C8B-B14F-4D97-AF65-F5344CB8AC3E}">
        <p14:creationId xmlns:p14="http://schemas.microsoft.com/office/powerpoint/2010/main" val="2949373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op and Wait Protoc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434" y="723331"/>
            <a:ext cx="5767554" cy="533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0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2765"/>
          </a:xfrm>
        </p:spPr>
        <p:txBody>
          <a:bodyPr>
            <a:normAutofit/>
          </a:bodyPr>
          <a:lstStyle/>
          <a:p>
            <a:r>
              <a:rPr lang="en-US" sz="3200" b="1" dirty="0"/>
              <a:t>Stop and Wait ARQ Protocol – </a:t>
            </a:r>
            <a:r>
              <a:rPr lang="en-US" sz="3200" b="1" dirty="0">
                <a:solidFill>
                  <a:srgbClr val="FF0000"/>
                </a:solidFill>
              </a:rPr>
              <a:t>flow control and error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7104"/>
            <a:ext cx="10515600" cy="528985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Stop and wait ARQ protocol can be used in </a:t>
            </a:r>
            <a:r>
              <a:rPr lang="en-US" sz="2400" dirty="0">
                <a:solidFill>
                  <a:srgbClr val="FF0000"/>
                </a:solidFill>
              </a:rPr>
              <a:t>noisy channels.</a:t>
            </a:r>
          </a:p>
          <a:p>
            <a:pPr algn="just"/>
            <a:r>
              <a:rPr lang="en-US" sz="2400" dirty="0"/>
              <a:t>A stop-and-wait ARQ sender sends one frame at a time.</a:t>
            </a:r>
          </a:p>
          <a:p>
            <a:pPr algn="just"/>
            <a:r>
              <a:rPr lang="en-US" sz="2400" dirty="0"/>
              <a:t>Stop-and-wait ARQ is a special case of the </a:t>
            </a:r>
            <a:r>
              <a:rPr lang="en-US" sz="2400" b="1" dirty="0">
                <a:solidFill>
                  <a:srgbClr val="FF0000"/>
                </a:solidFill>
              </a:rPr>
              <a:t>general sliding window protocol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FF0000"/>
                </a:solidFill>
              </a:rPr>
              <a:t>transmit and receive window sizes equal to one in both cases. 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sliding window is a technique for sending multiple frames at a time</a:t>
            </a:r>
            <a:r>
              <a:rPr lang="en-US" sz="2400" dirty="0"/>
              <a:t>. It controls the data packets between the two devices where reliable and sequential delivery of data frames is needed.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98" y="4254384"/>
            <a:ext cx="7562994" cy="238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9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4275"/>
            <a:ext cx="10515600" cy="5412688"/>
          </a:xfrm>
        </p:spPr>
        <p:txBody>
          <a:bodyPr/>
          <a:lstStyle/>
          <a:p>
            <a:pPr algn="just"/>
            <a:r>
              <a:rPr lang="en-US" sz="2400" b="1" dirty="0"/>
              <a:t>Sliding Window Protocol </a:t>
            </a:r>
            <a:r>
              <a:rPr lang="en-US" sz="2400" dirty="0"/>
              <a:t>sends multiple frames at a time. Number of frames to be sent is based on the window size. Each frame is numbered.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99" y="1909477"/>
            <a:ext cx="8232549" cy="451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96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7922"/>
            <a:ext cx="10515600" cy="5399041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Stop and wait ARQ is a one bit sliding window protocol where-</a:t>
            </a:r>
          </a:p>
          <a:p>
            <a:pPr lvl="1" algn="just"/>
            <a:r>
              <a:rPr lang="en-US" dirty="0"/>
              <a:t>Sender window size = 1</a:t>
            </a:r>
          </a:p>
          <a:p>
            <a:pPr lvl="1" algn="just"/>
            <a:r>
              <a:rPr lang="en-US" dirty="0"/>
              <a:t>Receiver window size = 1</a:t>
            </a:r>
          </a:p>
          <a:p>
            <a:pPr algn="just"/>
            <a:r>
              <a:rPr lang="en-US" sz="2400" dirty="0"/>
              <a:t>Minimum number of sequence numbers required = Sender Window Size + Receiver Window Size = 1 + 1 = 2</a:t>
            </a:r>
          </a:p>
          <a:p>
            <a:pPr algn="just"/>
            <a:r>
              <a:rPr lang="en-US" sz="2400" dirty="0"/>
              <a:t>Minimum number of sequence numbers required in Stop and Wait ARQ = 2.</a:t>
            </a:r>
          </a:p>
          <a:p>
            <a:pPr algn="just"/>
            <a:r>
              <a:rPr lang="en-US" sz="2400" dirty="0"/>
              <a:t>The two sequence numbers used are </a:t>
            </a:r>
            <a:r>
              <a:rPr lang="en-US" sz="2400" b="1" dirty="0"/>
              <a:t>0 and 1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5217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EBCF53B8-6F92-CD8E-375C-F4721CFB2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0" y="163756"/>
            <a:ext cx="6299200" cy="653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5"/>
            <a:ext cx="10515600" cy="565834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u="sng" dirty="0"/>
              <a:t>1. Problem of Lost Data Packet-</a:t>
            </a:r>
            <a:endParaRPr lang="en-US" sz="2400" dirty="0"/>
          </a:p>
          <a:p>
            <a:pPr fontAlgn="base"/>
            <a:r>
              <a:rPr lang="en-US" sz="2400" b="1" dirty="0">
                <a:solidFill>
                  <a:srgbClr val="FF0000"/>
                </a:solidFill>
              </a:rPr>
              <a:t>Time out timer </a:t>
            </a:r>
            <a:r>
              <a:rPr lang="en-US" sz="2400" dirty="0"/>
              <a:t>helps to solve the </a:t>
            </a:r>
            <a:r>
              <a:rPr lang="en-US" sz="2400" dirty="0">
                <a:solidFill>
                  <a:srgbClr val="FF0000"/>
                </a:solidFill>
              </a:rPr>
              <a:t>problem of lost data packet.</a:t>
            </a:r>
          </a:p>
          <a:p>
            <a:pPr fontAlgn="base"/>
            <a:r>
              <a:rPr lang="en-US" sz="2400" dirty="0"/>
              <a:t>After sending a data packet  to the receiver, </a:t>
            </a:r>
            <a:r>
              <a:rPr lang="en-US" sz="2400" dirty="0">
                <a:solidFill>
                  <a:srgbClr val="FF0000"/>
                </a:solidFill>
              </a:rPr>
              <a:t>sender starts the time out timer.</a:t>
            </a:r>
          </a:p>
          <a:p>
            <a:pPr fontAlgn="base"/>
            <a:r>
              <a:rPr lang="en-US" sz="2400" dirty="0"/>
              <a:t>If the </a:t>
            </a:r>
            <a:r>
              <a:rPr lang="en-US" sz="2400" dirty="0">
                <a:solidFill>
                  <a:srgbClr val="FF0000"/>
                </a:solidFill>
              </a:rPr>
              <a:t>data packet gets acknowledged before the timer expire</a:t>
            </a:r>
            <a:r>
              <a:rPr lang="en-US" sz="2400" dirty="0"/>
              <a:t>s, sender stops the time out timer.</a:t>
            </a:r>
          </a:p>
          <a:p>
            <a:pPr fontAlgn="base"/>
            <a:r>
              <a:rPr lang="en-US" sz="2400" dirty="0"/>
              <a:t>If the timer goes off before receiving the acknowledgement, sender retransmits the same data packet. After retransmission, sender resets the timer.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041" y="3347789"/>
            <a:ext cx="4008664" cy="335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22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5"/>
            <a:ext cx="10515600" cy="565834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u="sng" dirty="0"/>
              <a:t>2. Problem of Lost Acknowledgement</a:t>
            </a:r>
          </a:p>
          <a:p>
            <a:pPr fontAlgn="base"/>
            <a:r>
              <a:rPr lang="en-US" sz="2400" dirty="0">
                <a:solidFill>
                  <a:srgbClr val="FF0000"/>
                </a:solidFill>
              </a:rPr>
              <a:t>Sequence number on data packets help to solve the problem </a:t>
            </a:r>
            <a:r>
              <a:rPr lang="en-US" sz="2400" dirty="0"/>
              <a:t>of delayed acknowledgement.</a:t>
            </a:r>
          </a:p>
          <a:p>
            <a:pPr fontAlgn="base"/>
            <a:r>
              <a:rPr lang="en-US" sz="2400" dirty="0"/>
              <a:t>Consider the acknowledgement sent by the receiver gets lost.</a:t>
            </a:r>
          </a:p>
          <a:p>
            <a:pPr fontAlgn="base"/>
            <a:r>
              <a:rPr lang="en-US" sz="2400" dirty="0"/>
              <a:t>Then, sender </a:t>
            </a:r>
            <a:r>
              <a:rPr lang="en-US" sz="2400" dirty="0">
                <a:solidFill>
                  <a:srgbClr val="FF0000"/>
                </a:solidFill>
              </a:rPr>
              <a:t>retransmits the same data packet after its timer goes off.</a:t>
            </a:r>
          </a:p>
          <a:p>
            <a:pPr fontAlgn="base"/>
            <a:r>
              <a:rPr lang="en-US" sz="2400" dirty="0"/>
              <a:t>The sequence number on the data packet helps the receiver to identify the </a:t>
            </a:r>
            <a:r>
              <a:rPr lang="en-US" sz="2400" dirty="0">
                <a:solidFill>
                  <a:srgbClr val="FF0000"/>
                </a:solidFill>
              </a:rPr>
              <a:t>duplicate data packet. </a:t>
            </a:r>
            <a:r>
              <a:rPr lang="en-US" sz="2400" dirty="0"/>
              <a:t>Receiver discards the duplicate packet and re-sends the same acknowledgement.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944" y="3547590"/>
            <a:ext cx="4209978" cy="331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91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5"/>
            <a:ext cx="10515600" cy="565834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u="sng" dirty="0"/>
              <a:t>3. Problem of Delayed Acknowledgement-</a:t>
            </a:r>
          </a:p>
          <a:p>
            <a:pPr fontAlgn="base"/>
            <a:r>
              <a:rPr lang="en-US" sz="2400" dirty="0"/>
              <a:t>Sequence number on acknowledgements help to solve the </a:t>
            </a:r>
            <a:r>
              <a:rPr lang="en-US" sz="2400" dirty="0">
                <a:solidFill>
                  <a:srgbClr val="FF0000"/>
                </a:solidFill>
              </a:rPr>
              <a:t>problem of delayed acknowledgement.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 descr="https://www.gatevidyalay.com/wp-content/uploads/2018/09/Problem-of-delayed-Acknowledgement-Stop-and-Wait-ARQ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596" y="1663913"/>
            <a:ext cx="3819525" cy="479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489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5"/>
            <a:ext cx="10515600" cy="565834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u="sng" dirty="0"/>
              <a:t>4. Problem of Damaged Packet-</a:t>
            </a:r>
          </a:p>
          <a:p>
            <a:pPr marL="0" indent="0" fontAlgn="base">
              <a:buNone/>
            </a:pPr>
            <a:r>
              <a:rPr lang="en-US" sz="2400" dirty="0"/>
              <a:t>If receiver receives a corrupted data packet from the sender, it sends a negative </a:t>
            </a:r>
            <a:r>
              <a:rPr lang="en-US" sz="2400" dirty="0">
                <a:solidFill>
                  <a:srgbClr val="FF0000"/>
                </a:solidFill>
              </a:rPr>
              <a:t>acknowledgement (NAK) to the sender.</a:t>
            </a:r>
          </a:p>
          <a:p>
            <a:pPr marL="0" indent="0" fontAlgn="base">
              <a:buNone/>
            </a:pPr>
            <a:r>
              <a:rPr lang="en-US" sz="2400" dirty="0"/>
              <a:t>NAK </a:t>
            </a:r>
            <a:r>
              <a:rPr lang="en-US" sz="2400" dirty="0">
                <a:solidFill>
                  <a:srgbClr val="FF0000"/>
                </a:solidFill>
              </a:rPr>
              <a:t>requests the sender </a:t>
            </a:r>
            <a:r>
              <a:rPr lang="en-US" sz="2400" dirty="0"/>
              <a:t>to send the data packet again.</a:t>
            </a:r>
            <a:endParaRPr lang="en-US" dirty="0"/>
          </a:p>
        </p:txBody>
      </p:sp>
      <p:pic>
        <p:nvPicPr>
          <p:cNvPr id="2050" name="Picture 2" descr="https://www.gatevidyalay.com/wp-content/uploads/2018/09/Problem-of-Damaged-Packet-Stop-and-Wait-AR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214" y="2438329"/>
            <a:ext cx="3829572" cy="411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921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2765"/>
          </a:xfrm>
        </p:spPr>
        <p:txBody>
          <a:bodyPr>
            <a:normAutofit/>
          </a:bodyPr>
          <a:lstStyle/>
          <a:p>
            <a:r>
              <a:rPr lang="en-US" sz="3200" b="1" dirty="0"/>
              <a:t>Go Back N ARQ Protocol – flow control and error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7104"/>
            <a:ext cx="10515600" cy="528985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sending process continues to </a:t>
            </a:r>
            <a:r>
              <a:rPr lang="en-US" sz="2400" dirty="0">
                <a:solidFill>
                  <a:srgbClr val="FF0000"/>
                </a:solidFill>
              </a:rPr>
              <a:t>send a number of frames </a:t>
            </a:r>
            <a:r>
              <a:rPr lang="en-US" sz="2400" dirty="0"/>
              <a:t>as </a:t>
            </a:r>
            <a:r>
              <a:rPr lang="en-US" sz="2400" b="1" dirty="0">
                <a:solidFill>
                  <a:srgbClr val="FF0000"/>
                </a:solidFill>
              </a:rPr>
              <a:t>specified by the window size</a:t>
            </a:r>
            <a:r>
              <a:rPr lang="en-US" sz="2400" dirty="0"/>
              <a:t> even </a:t>
            </a:r>
            <a:r>
              <a:rPr lang="en-US" sz="2400" b="1" dirty="0">
                <a:solidFill>
                  <a:srgbClr val="FF0000"/>
                </a:solidFill>
              </a:rPr>
              <a:t>without receiving an acknowledgement </a:t>
            </a:r>
            <a:r>
              <a:rPr lang="en-US" sz="2400" dirty="0"/>
              <a:t>(ACK) packet from the receiver.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size of the sending window determines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sequence number of the outbound frames</a:t>
            </a:r>
            <a:r>
              <a:rPr lang="en-US" sz="2400" dirty="0"/>
              <a:t>. If the sequence number of the frames is an n-bit field, then the range of sequence numbers that can be assigned is </a:t>
            </a:r>
            <a:r>
              <a:rPr lang="en-US" sz="2400" dirty="0">
                <a:solidFill>
                  <a:srgbClr val="FF0000"/>
                </a:solidFill>
              </a:rPr>
              <a:t>0 to 2</a:t>
            </a:r>
            <a:r>
              <a:rPr lang="en-US" sz="2400" baseline="30000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−1. </a:t>
            </a:r>
            <a:r>
              <a:rPr lang="en-US" sz="2400" dirty="0"/>
              <a:t>Consequently, the size of the sending window is</a:t>
            </a:r>
            <a:r>
              <a:rPr lang="en-US" sz="2400" dirty="0">
                <a:solidFill>
                  <a:srgbClr val="FF0000"/>
                </a:solidFill>
              </a:rPr>
              <a:t> 2</a:t>
            </a:r>
            <a:r>
              <a:rPr lang="en-US" sz="2400" baseline="30000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−1. The receiver window size is 1.</a:t>
            </a:r>
          </a:p>
          <a:p>
            <a:pPr algn="just"/>
            <a:r>
              <a:rPr lang="en-US" sz="2400" dirty="0"/>
              <a:t>This protocol makes the use of </a:t>
            </a:r>
            <a:r>
              <a:rPr lang="en-US" sz="2400" dirty="0">
                <a:solidFill>
                  <a:srgbClr val="FF0000"/>
                </a:solidFill>
              </a:rPr>
              <a:t>cumulative acknowledgements </a:t>
            </a:r>
            <a:r>
              <a:rPr lang="en-US" sz="2400" dirty="0"/>
              <a:t>means here the receiver maintains an </a:t>
            </a:r>
            <a:r>
              <a:rPr lang="en-US" sz="2400" dirty="0">
                <a:solidFill>
                  <a:srgbClr val="FF0000"/>
                </a:solidFill>
              </a:rPr>
              <a:t>acknowledgement timer</a:t>
            </a:r>
            <a:r>
              <a:rPr lang="en-US" sz="2400" dirty="0"/>
              <a:t>; whenever the receiver receives a </a:t>
            </a:r>
            <a:r>
              <a:rPr lang="en-US" sz="2400" dirty="0">
                <a:solidFill>
                  <a:srgbClr val="FF0000"/>
                </a:solidFill>
              </a:rPr>
              <a:t>new frame from the sender </a:t>
            </a:r>
            <a:r>
              <a:rPr lang="en-US" sz="2400" dirty="0"/>
              <a:t>then it starts a new </a:t>
            </a:r>
            <a:r>
              <a:rPr lang="en-US" sz="2400" dirty="0">
                <a:solidFill>
                  <a:srgbClr val="FF0000"/>
                </a:solidFill>
              </a:rPr>
              <a:t>acknowledgement timer. </a:t>
            </a:r>
            <a:r>
              <a:rPr lang="en-US" sz="2400" dirty="0"/>
              <a:t>When the </a:t>
            </a:r>
            <a:r>
              <a:rPr lang="en-US" sz="2400" dirty="0">
                <a:solidFill>
                  <a:srgbClr val="FF0000"/>
                </a:solidFill>
              </a:rPr>
              <a:t>timer expires then the receiver sends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cumulative acknowledgement </a:t>
            </a:r>
            <a:r>
              <a:rPr lang="en-US" sz="2400" dirty="0"/>
              <a:t>for all the frames </a:t>
            </a:r>
            <a:r>
              <a:rPr lang="en-US" sz="2400" dirty="0">
                <a:solidFill>
                  <a:srgbClr val="FF0000"/>
                </a:solidFill>
              </a:rPr>
              <a:t>that are unacknowledged by the receiver at that moment.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9185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7104"/>
            <a:ext cx="10515600" cy="528985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If the </a:t>
            </a:r>
            <a:r>
              <a:rPr lang="en-US" sz="2400" dirty="0">
                <a:solidFill>
                  <a:srgbClr val="FF0000"/>
                </a:solidFill>
              </a:rPr>
              <a:t>timeout timer runs out for the first frame</a:t>
            </a:r>
            <a:r>
              <a:rPr lang="en-US" sz="2400" dirty="0"/>
              <a:t> in the window then the </a:t>
            </a:r>
            <a:r>
              <a:rPr lang="en-US" sz="2400" dirty="0">
                <a:solidFill>
                  <a:srgbClr val="FF0000"/>
                </a:solidFill>
              </a:rPr>
              <a:t>sender will resend all the packets in the window.</a:t>
            </a:r>
          </a:p>
          <a:p>
            <a:pPr algn="just"/>
            <a:r>
              <a:rPr lang="en-US" sz="2400" dirty="0"/>
              <a:t>Whenever a valid acknowledgement arrives then the send window can slide one or more slots.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sender keeps a copy of each frame </a:t>
            </a:r>
            <a:r>
              <a:rPr lang="en-US" sz="2400" dirty="0"/>
              <a:t>until the </a:t>
            </a:r>
            <a:r>
              <a:rPr lang="en-US" sz="2400" dirty="0">
                <a:solidFill>
                  <a:srgbClr val="FF0000"/>
                </a:solidFill>
              </a:rPr>
              <a:t>arrival of acknowledgement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If the </a:t>
            </a:r>
            <a:r>
              <a:rPr lang="en-US" sz="2400" dirty="0">
                <a:solidFill>
                  <a:srgbClr val="FF0000"/>
                </a:solidFill>
              </a:rPr>
              <a:t>receiver receives an out-of-order frame, </a:t>
            </a:r>
            <a:r>
              <a:rPr lang="en-US" sz="2400" dirty="0"/>
              <a:t>then that </a:t>
            </a:r>
            <a:r>
              <a:rPr lang="en-US" sz="2400" dirty="0">
                <a:solidFill>
                  <a:srgbClr val="FF0000"/>
                </a:solidFill>
              </a:rPr>
              <a:t>frame and all the subsequent frames are discarded.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receiver window slides </a:t>
            </a:r>
            <a:r>
              <a:rPr lang="en-US" sz="2400" dirty="0"/>
              <a:t>when a correct frame arrives; the </a:t>
            </a:r>
            <a:r>
              <a:rPr lang="en-US" sz="2400" dirty="0">
                <a:solidFill>
                  <a:srgbClr val="FF0000"/>
                </a:solidFill>
              </a:rPr>
              <a:t>sliding occurs one slot at a time.</a:t>
            </a:r>
          </a:p>
          <a:p>
            <a:pPr algn="just"/>
            <a:r>
              <a:rPr lang="en-US" sz="2400" dirty="0"/>
              <a:t>It is important to note that the </a:t>
            </a:r>
            <a:r>
              <a:rPr lang="en-US" sz="2400" dirty="0">
                <a:solidFill>
                  <a:srgbClr val="FF0000"/>
                </a:solidFill>
              </a:rPr>
              <a:t>new acknowledgement timer only starts after the receiving of a new frame</a:t>
            </a:r>
            <a:r>
              <a:rPr lang="en-US" sz="2400" dirty="0"/>
              <a:t>, it does not start after the expiry of the old acknowledgement timer.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3012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97" y="671511"/>
            <a:ext cx="9658177" cy="516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63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86" y="1105298"/>
            <a:ext cx="9493157" cy="42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59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s3.ap-south-1.amazonaws.com/s3.studytonight.com/curious/uploads/pictures/1576756228-7026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628" y="-310294"/>
            <a:ext cx="7720362" cy="808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44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o-Back-N AR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852" y="933093"/>
            <a:ext cx="8225738" cy="493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517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18B5-29AA-0093-E77D-3360FA1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F44F-EEA6-0B8C-88FA-72EC2DE66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Efficiency of GBN = N/(1+2a)</a:t>
            </a:r>
          </a:p>
          <a:p>
            <a:r>
              <a:rPr lang="en-US" sz="2400" dirty="0"/>
              <a:t>where a = </a:t>
            </a:r>
            <a:r>
              <a:rPr lang="en-US" sz="2400" dirty="0" err="1"/>
              <a:t>Tp</a:t>
            </a:r>
            <a:r>
              <a:rPr lang="en-US" sz="2400" dirty="0"/>
              <a:t>/Tt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Throughput</a:t>
            </a:r>
          </a:p>
          <a:p>
            <a:r>
              <a:rPr lang="en-US" sz="2400" dirty="0"/>
              <a:t> = Efficiency * Bandwidth</a:t>
            </a:r>
          </a:p>
          <a:p>
            <a:r>
              <a:rPr lang="en-US" sz="2400" dirty="0"/>
              <a:t> = (N/(1+2a)) * B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52989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2765"/>
          </a:xfrm>
        </p:spPr>
        <p:txBody>
          <a:bodyPr>
            <a:normAutofit/>
          </a:bodyPr>
          <a:lstStyle/>
          <a:p>
            <a:r>
              <a:rPr lang="en-US" sz="3200" b="1" dirty="0"/>
              <a:t>Selective Repeat ARQ Protocol – flow control and error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7104"/>
            <a:ext cx="10515600" cy="528985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Go-back-N ARQ protocol works well if it has fewer errors. But if there is a lot of error in the frame, lots of bandwidth loss in sending the frames again. </a:t>
            </a:r>
          </a:p>
          <a:p>
            <a:pPr algn="just"/>
            <a:r>
              <a:rPr lang="en-US" sz="2400" dirty="0"/>
              <a:t>So, we use the Selective Repeat ARQ protocol. In this protocol, the size of the sender window is always equal to the size of the receiver window.</a:t>
            </a:r>
          </a:p>
          <a:p>
            <a:pPr algn="just"/>
            <a:r>
              <a:rPr lang="en-US" sz="2400" dirty="0"/>
              <a:t>If n bits are available for sequence numbers, then sender window size = receiver window size = 2</a:t>
            </a:r>
            <a:r>
              <a:rPr lang="en-US" sz="2400" baseline="30000" dirty="0"/>
              <a:t>n-1</a:t>
            </a:r>
          </a:p>
          <a:p>
            <a:pPr algn="just"/>
            <a:r>
              <a:rPr lang="en-US" sz="2400" dirty="0"/>
              <a:t>SR protocol can send a negative ACK for each corrupted or lost packet. However, this behavior is less common.</a:t>
            </a:r>
          </a:p>
          <a:p>
            <a:pPr algn="just"/>
            <a:r>
              <a:rPr lang="en-US" sz="2400" dirty="0"/>
              <a:t>SR protocol accepts the out of order frames. SR protocol requires sorting at the receiver’s side.</a:t>
            </a:r>
          </a:p>
          <a:p>
            <a:pPr algn="just"/>
            <a:r>
              <a:rPr lang="en-US" sz="2400" dirty="0"/>
              <a:t>SR protocol leads to retransmission of unacknowledged frames after expiry of time out timer at the sender.</a:t>
            </a:r>
          </a:p>
        </p:txBody>
      </p:sp>
    </p:spTree>
    <p:extLst>
      <p:ext uri="{BB962C8B-B14F-4D97-AF65-F5344CB8AC3E}">
        <p14:creationId xmlns:p14="http://schemas.microsoft.com/office/powerpoint/2010/main" val="4141596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428" y="698097"/>
            <a:ext cx="8038033" cy="54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3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8451874-D9B0-EADA-887B-58DAEEFA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096" y="382051"/>
            <a:ext cx="7351323" cy="628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825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4FAC-54DA-C457-CB2D-0CBD5395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4E3A-D718-01AD-D0C2-E9E219ECD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Efficiency = N/(1+2a)</a:t>
            </a:r>
          </a:p>
          <a:p>
            <a:r>
              <a:rPr lang="en-US" sz="2400" dirty="0"/>
              <a:t>Where a = Propagation delay / Transmission delay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60100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6686"/>
            <a:ext cx="10515600" cy="5480277"/>
          </a:xfrm>
        </p:spPr>
        <p:txBody>
          <a:bodyPr>
            <a:normAutofit fontScale="92500" lnSpcReduction="10000"/>
          </a:bodyPr>
          <a:lstStyle/>
          <a:p>
            <a:pPr marL="514350" indent="-514350" algn="just" fontAlgn="base">
              <a:buFont typeface="+mj-lt"/>
              <a:buAutoNum type="arabicPeriod" startAt="3"/>
            </a:pPr>
            <a:r>
              <a:rPr lang="en-US" sz="2600" dirty="0">
                <a:solidFill>
                  <a:srgbClr val="FF0000"/>
                </a:solidFill>
              </a:rPr>
              <a:t>A 20 Kbps satellite link has a propagation delay of 400 </a:t>
            </a:r>
            <a:r>
              <a:rPr lang="en-US" sz="2600" dirty="0" err="1">
                <a:solidFill>
                  <a:srgbClr val="FF0000"/>
                </a:solidFill>
              </a:rPr>
              <a:t>ms.</a:t>
            </a:r>
            <a:r>
              <a:rPr lang="en-US" sz="2600" dirty="0">
                <a:solidFill>
                  <a:srgbClr val="FF0000"/>
                </a:solidFill>
              </a:rPr>
              <a:t> The transmitter employs the “go back n ARQ” scheme with n set to 10. Assuming that each frame is 100 bytes long, what is the maximum data rate possible?</a:t>
            </a:r>
          </a:p>
          <a:p>
            <a:pPr marL="0" indent="0" fontAlgn="base">
              <a:buNone/>
            </a:pPr>
            <a:r>
              <a:rPr lang="en-US" sz="2600" dirty="0">
                <a:solidFill>
                  <a:srgbClr val="FF0000"/>
                </a:solidFill>
              </a:rPr>
              <a:t>	5 Kbps</a:t>
            </a:r>
          </a:p>
          <a:p>
            <a:pPr marL="0" indent="0" fontAlgn="base">
              <a:buNone/>
            </a:pPr>
            <a:r>
              <a:rPr lang="en-US" sz="2600" dirty="0">
                <a:solidFill>
                  <a:srgbClr val="FF0000"/>
                </a:solidFill>
              </a:rPr>
              <a:t>	10 Kbps</a:t>
            </a:r>
          </a:p>
          <a:p>
            <a:pPr marL="0" indent="0" fontAlgn="base">
              <a:buNone/>
            </a:pPr>
            <a:r>
              <a:rPr lang="en-US" sz="2600" dirty="0">
                <a:solidFill>
                  <a:srgbClr val="FF0000"/>
                </a:solidFill>
              </a:rPr>
              <a:t>	15 Kbps</a:t>
            </a:r>
          </a:p>
          <a:p>
            <a:pPr marL="0" indent="0" fontAlgn="base">
              <a:buNone/>
            </a:pPr>
            <a:r>
              <a:rPr lang="en-US" sz="2600" dirty="0">
                <a:solidFill>
                  <a:srgbClr val="FF0000"/>
                </a:solidFill>
              </a:rPr>
              <a:t>	20 Kbps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Given-</a:t>
            </a:r>
          </a:p>
          <a:p>
            <a:pPr marL="0" indent="0" fontAlgn="base">
              <a:buNone/>
            </a:pPr>
            <a:r>
              <a:rPr lang="en-US" dirty="0"/>
              <a:t>Bandwidth = 20 Kbps</a:t>
            </a:r>
          </a:p>
          <a:p>
            <a:pPr marL="0" indent="0" fontAlgn="base">
              <a:buNone/>
            </a:pPr>
            <a:r>
              <a:rPr lang="en-US" dirty="0"/>
              <a:t>Propagation delay (</a:t>
            </a:r>
            <a:r>
              <a:rPr lang="en-US" dirty="0" err="1"/>
              <a:t>T</a:t>
            </a:r>
            <a:r>
              <a:rPr lang="en-US" baseline="-25000" dirty="0" err="1"/>
              <a:t>p</a:t>
            </a:r>
            <a:r>
              <a:rPr lang="en-US" dirty="0"/>
              <a:t>) = 400 </a:t>
            </a:r>
            <a:r>
              <a:rPr lang="en-US" dirty="0" err="1"/>
              <a:t>ms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Frame size = 100 bytes</a:t>
            </a:r>
          </a:p>
          <a:p>
            <a:pPr marL="0" indent="0" fontAlgn="base">
              <a:buNone/>
            </a:pPr>
            <a:r>
              <a:rPr lang="en-US" dirty="0"/>
              <a:t>Go back N is used where N = 10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295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79" y="580571"/>
            <a:ext cx="10739651" cy="5596392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000" b="1" u="sng" dirty="0"/>
              <a:t>Calculating Transmission Delay-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Transmission delay (T</a:t>
            </a:r>
            <a:r>
              <a:rPr lang="en-US" sz="2000" baseline="-25000" dirty="0"/>
              <a:t>t</a:t>
            </a:r>
            <a:r>
              <a:rPr lang="en-US" sz="2000" dirty="0"/>
              <a:t>)</a:t>
            </a:r>
          </a:p>
          <a:p>
            <a:pPr marL="0" indent="0" fontAlgn="base">
              <a:buNone/>
            </a:pPr>
            <a:r>
              <a:rPr lang="en-US" sz="2000" dirty="0"/>
              <a:t>= Frame size / Bandwidth</a:t>
            </a:r>
          </a:p>
          <a:p>
            <a:pPr marL="0" indent="0" fontAlgn="base">
              <a:buNone/>
            </a:pPr>
            <a:r>
              <a:rPr lang="en-US" sz="2000" dirty="0"/>
              <a:t>= 100 bytes / 20 Kbps</a:t>
            </a:r>
          </a:p>
          <a:p>
            <a:pPr marL="0" indent="0" fontAlgn="base">
              <a:buNone/>
            </a:pPr>
            <a:r>
              <a:rPr lang="en-US" sz="2000" dirty="0"/>
              <a:t>= (100 x 8 bits) / (20 x 10</a:t>
            </a:r>
            <a:r>
              <a:rPr lang="en-US" sz="2000" baseline="30000" dirty="0"/>
              <a:t>3 </a:t>
            </a:r>
            <a:r>
              <a:rPr lang="en-US" sz="2000" dirty="0"/>
              <a:t>bits per sec)</a:t>
            </a:r>
          </a:p>
          <a:p>
            <a:pPr marL="0" indent="0" fontAlgn="base">
              <a:buNone/>
            </a:pPr>
            <a:r>
              <a:rPr lang="en-US" sz="2000" dirty="0"/>
              <a:t>= 0.04 sec</a:t>
            </a:r>
          </a:p>
          <a:p>
            <a:pPr marL="0" indent="0" fontAlgn="base">
              <a:buNone/>
            </a:pPr>
            <a:r>
              <a:rPr lang="en-US" sz="2000" dirty="0"/>
              <a:t>= 40 </a:t>
            </a:r>
            <a:r>
              <a:rPr lang="en-US" sz="2000" dirty="0" err="1"/>
              <a:t>msec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 </a:t>
            </a:r>
          </a:p>
          <a:p>
            <a:pPr marL="0" indent="0" fontAlgn="base">
              <a:buNone/>
            </a:pPr>
            <a:r>
              <a:rPr lang="en-US" sz="2000" b="1" u="sng" dirty="0"/>
              <a:t>Calculating Value Of ‘a’-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a = </a:t>
            </a:r>
            <a:r>
              <a:rPr lang="en-US" sz="2000" dirty="0" err="1"/>
              <a:t>T</a:t>
            </a:r>
            <a:r>
              <a:rPr lang="en-US" sz="2000" baseline="-25000" dirty="0" err="1"/>
              <a:t>p</a:t>
            </a:r>
            <a:r>
              <a:rPr lang="en-US" sz="2000" dirty="0"/>
              <a:t> / T</a:t>
            </a:r>
            <a:r>
              <a:rPr lang="en-US" sz="2000" baseline="-25000" dirty="0"/>
              <a:t>t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a = 400 </a:t>
            </a:r>
            <a:r>
              <a:rPr lang="en-US" sz="2000" dirty="0" err="1"/>
              <a:t>msec</a:t>
            </a:r>
            <a:r>
              <a:rPr lang="en-US" sz="2000" dirty="0"/>
              <a:t> / 40 </a:t>
            </a:r>
            <a:r>
              <a:rPr lang="en-US" sz="2000" dirty="0" err="1"/>
              <a:t>msec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a = 10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8745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371"/>
            <a:ext cx="10515600" cy="5799592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Calculating Efficiency-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Efficiency (η)</a:t>
            </a:r>
          </a:p>
          <a:p>
            <a:pPr marL="0" indent="0" fontAlgn="base">
              <a:buNone/>
            </a:pPr>
            <a:r>
              <a:rPr lang="en-US" dirty="0"/>
              <a:t>= N / (1+2a)</a:t>
            </a:r>
          </a:p>
          <a:p>
            <a:pPr marL="0" indent="0" fontAlgn="base">
              <a:buNone/>
            </a:pPr>
            <a:r>
              <a:rPr lang="en-US" dirty="0"/>
              <a:t>= 10 / (1 + 2 x 10)</a:t>
            </a:r>
          </a:p>
          <a:p>
            <a:pPr marL="0" indent="0" fontAlgn="base">
              <a:buNone/>
            </a:pPr>
            <a:r>
              <a:rPr lang="en-US" dirty="0"/>
              <a:t>= 10 / 21</a:t>
            </a:r>
          </a:p>
          <a:p>
            <a:pPr marL="0" indent="0" fontAlgn="base">
              <a:buNone/>
            </a:pPr>
            <a:r>
              <a:rPr lang="en-US" dirty="0"/>
              <a:t>= 0.476</a:t>
            </a:r>
          </a:p>
          <a:p>
            <a:pPr marL="0" indent="0" fontAlgn="base">
              <a:buNone/>
            </a:pPr>
            <a:r>
              <a:rPr lang="en-US" dirty="0"/>
              <a:t>= 47.6 %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Calculating Maximum Data Rate Possible-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Maximum data rate possible or Throughput</a:t>
            </a:r>
          </a:p>
          <a:p>
            <a:pPr marL="0" indent="0" fontAlgn="base">
              <a:buNone/>
            </a:pPr>
            <a:r>
              <a:rPr lang="en-US" dirty="0"/>
              <a:t>= Efficiency x Bandwidth</a:t>
            </a:r>
          </a:p>
          <a:p>
            <a:pPr marL="0" indent="0" fontAlgn="base">
              <a:buNone/>
            </a:pPr>
            <a:r>
              <a:rPr lang="en-US" dirty="0"/>
              <a:t>= 0.476 x 20 Kbps</a:t>
            </a:r>
          </a:p>
          <a:p>
            <a:pPr marL="0" indent="0" fontAlgn="base">
              <a:buNone/>
            </a:pPr>
            <a:r>
              <a:rPr lang="en-US" dirty="0"/>
              <a:t>= 9.52 Kbps</a:t>
            </a:r>
          </a:p>
          <a:p>
            <a:pPr marL="0" indent="0" fontAlgn="base">
              <a:buNone/>
            </a:pPr>
            <a:r>
              <a:rPr lang="en-US" dirty="0"/>
              <a:t>≅ 10 Kbps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Thus, Correct Option is (B)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6180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0571"/>
            <a:ext cx="10515600" cy="6066972"/>
          </a:xfrm>
        </p:spPr>
        <p:txBody>
          <a:bodyPr>
            <a:normAutofit fontScale="55000" lnSpcReduction="20000"/>
          </a:bodyPr>
          <a:lstStyle/>
          <a:p>
            <a:pPr marL="514350" indent="-514350" fontAlgn="base">
              <a:buFont typeface="+mj-lt"/>
              <a:buAutoNum type="arabicPeriod" startAt="4"/>
            </a:pPr>
            <a:r>
              <a:rPr lang="en-US" sz="3800" dirty="0">
                <a:solidFill>
                  <a:srgbClr val="FF0000"/>
                </a:solidFill>
              </a:rPr>
              <a:t>Consider a 128 x 10</a:t>
            </a:r>
            <a:r>
              <a:rPr lang="en-US" sz="3800" baseline="30000" dirty="0">
                <a:solidFill>
                  <a:srgbClr val="FF0000"/>
                </a:solidFill>
              </a:rPr>
              <a:t>3</a:t>
            </a:r>
            <a:r>
              <a:rPr lang="en-US" sz="3800" dirty="0">
                <a:solidFill>
                  <a:srgbClr val="FF0000"/>
                </a:solidFill>
              </a:rPr>
              <a:t> bits/sec satellite communication link  with one way propagation delay of 150 msec. Selective Retransmission (repeat) protocol is used on this link to send data with a frame size of 1 KB. The minimum number of sequence numbers to achieve 100% utilization is ________ 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sz="3300" dirty="0"/>
              <a:t>Given-</a:t>
            </a:r>
          </a:p>
          <a:p>
            <a:pPr marL="0" indent="0" fontAlgn="base">
              <a:buNone/>
            </a:pPr>
            <a:r>
              <a:rPr lang="en-US" sz="3300" dirty="0"/>
              <a:t>Bandwidth = 128 x 10</a:t>
            </a:r>
            <a:r>
              <a:rPr lang="en-US" sz="3300" baseline="30000" dirty="0"/>
              <a:t>3</a:t>
            </a:r>
            <a:r>
              <a:rPr lang="en-US" sz="3300" dirty="0"/>
              <a:t> bits/sec</a:t>
            </a:r>
          </a:p>
          <a:p>
            <a:pPr marL="0" indent="0" fontAlgn="base">
              <a:buNone/>
            </a:pPr>
            <a:r>
              <a:rPr lang="en-US" sz="3300" dirty="0"/>
              <a:t>Propagation delay (</a:t>
            </a:r>
            <a:r>
              <a:rPr lang="en-US" sz="3300" dirty="0" err="1"/>
              <a:t>T</a:t>
            </a:r>
            <a:r>
              <a:rPr lang="en-US" sz="3300" baseline="-25000" dirty="0" err="1"/>
              <a:t>p</a:t>
            </a:r>
            <a:r>
              <a:rPr lang="en-US" sz="3300" dirty="0"/>
              <a:t>) = 150 </a:t>
            </a:r>
            <a:r>
              <a:rPr lang="en-US" sz="3300" dirty="0" err="1"/>
              <a:t>msec</a:t>
            </a:r>
            <a:endParaRPr lang="en-US" sz="3300" dirty="0"/>
          </a:p>
          <a:p>
            <a:pPr marL="0" indent="0" fontAlgn="base">
              <a:buNone/>
            </a:pPr>
            <a:r>
              <a:rPr lang="en-US" sz="3300" dirty="0"/>
              <a:t>Frame size = 1 KB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sz="3300" dirty="0"/>
              <a:t>Now,</a:t>
            </a:r>
          </a:p>
          <a:p>
            <a:pPr marL="0" indent="0" fontAlgn="base">
              <a:buNone/>
            </a:pPr>
            <a:r>
              <a:rPr lang="en-US" sz="3300" dirty="0"/>
              <a:t>To achieve 100% utilization, efficiency must be 100%.</a:t>
            </a:r>
          </a:p>
          <a:p>
            <a:pPr marL="0" indent="0" fontAlgn="base">
              <a:buNone/>
            </a:pPr>
            <a:r>
              <a:rPr lang="en-US" sz="3300" dirty="0"/>
              <a:t>Efficiency is 100% when sender window size is optimal i.e. 1+2a</a:t>
            </a:r>
          </a:p>
          <a:p>
            <a:pPr marL="0" indent="0" fontAlgn="base">
              <a:buNone/>
            </a:pPr>
            <a:r>
              <a:rPr lang="en-US" sz="3300" dirty="0"/>
              <a:t> </a:t>
            </a:r>
          </a:p>
          <a:p>
            <a:pPr marL="0" indent="0" fontAlgn="base">
              <a:buNone/>
            </a:pPr>
            <a:r>
              <a:rPr lang="en-US" sz="3300" b="1" u="sng" dirty="0"/>
              <a:t>Calculating Transmission Delay-</a:t>
            </a:r>
            <a:endParaRPr lang="en-US" sz="3300" dirty="0"/>
          </a:p>
          <a:p>
            <a:pPr marL="0" indent="0" fontAlgn="base">
              <a:buNone/>
            </a:pPr>
            <a:r>
              <a:rPr lang="en-US" sz="3300" dirty="0"/>
              <a:t>Transmission delay (T</a:t>
            </a:r>
            <a:r>
              <a:rPr lang="en-US" sz="3300" baseline="-25000" dirty="0"/>
              <a:t>t</a:t>
            </a:r>
            <a:r>
              <a:rPr lang="en-US" sz="3300" dirty="0"/>
              <a:t>)</a:t>
            </a:r>
          </a:p>
          <a:p>
            <a:pPr marL="0" indent="0" fontAlgn="base">
              <a:buNone/>
            </a:pPr>
            <a:r>
              <a:rPr lang="en-US" sz="3300" dirty="0"/>
              <a:t>= Frame size / Bandwidth</a:t>
            </a:r>
          </a:p>
          <a:p>
            <a:pPr marL="0" indent="0" fontAlgn="base">
              <a:buNone/>
            </a:pPr>
            <a:r>
              <a:rPr lang="en-US" sz="3300" dirty="0"/>
              <a:t>= 1 KB / (128 x 10</a:t>
            </a:r>
            <a:r>
              <a:rPr lang="en-US" sz="3300" baseline="30000" dirty="0"/>
              <a:t>3</a:t>
            </a:r>
            <a:r>
              <a:rPr lang="en-US" sz="3300" dirty="0"/>
              <a:t> bits per sec)</a:t>
            </a:r>
          </a:p>
          <a:p>
            <a:pPr marL="0" indent="0" fontAlgn="base">
              <a:buNone/>
            </a:pPr>
            <a:r>
              <a:rPr lang="en-US" sz="3300" dirty="0"/>
              <a:t>= (1 x 2</a:t>
            </a:r>
            <a:r>
              <a:rPr lang="en-US" sz="3300" baseline="30000" dirty="0"/>
              <a:t>10</a:t>
            </a:r>
            <a:r>
              <a:rPr lang="en-US" sz="3300" dirty="0"/>
              <a:t> x 8 bits) / (128 x 10</a:t>
            </a:r>
            <a:r>
              <a:rPr lang="en-US" sz="3300" baseline="30000" dirty="0"/>
              <a:t>3</a:t>
            </a:r>
            <a:r>
              <a:rPr lang="en-US" sz="3300" dirty="0"/>
              <a:t> bits per sec)</a:t>
            </a:r>
          </a:p>
          <a:p>
            <a:pPr marL="0" indent="0" fontAlgn="base">
              <a:buNone/>
            </a:pPr>
            <a:r>
              <a:rPr lang="en-US" sz="3300" dirty="0"/>
              <a:t>= 64 </a:t>
            </a:r>
            <a:r>
              <a:rPr lang="en-US" sz="3300" dirty="0" err="1"/>
              <a:t>msec</a:t>
            </a:r>
            <a:endParaRPr lang="en-US" sz="33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0506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144"/>
            <a:ext cx="10515600" cy="6712856"/>
          </a:xfrm>
        </p:spPr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Calculating Value of ‘a’-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a = </a:t>
            </a:r>
            <a:r>
              <a:rPr lang="en-US" dirty="0" err="1"/>
              <a:t>T</a:t>
            </a:r>
            <a:r>
              <a:rPr lang="en-US" baseline="-25000" dirty="0" err="1"/>
              <a:t>p</a:t>
            </a:r>
            <a:r>
              <a:rPr lang="en-US" dirty="0"/>
              <a:t> / T</a:t>
            </a:r>
            <a:r>
              <a:rPr lang="en-US" baseline="-25000" dirty="0"/>
              <a:t>t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a = 150 </a:t>
            </a:r>
            <a:r>
              <a:rPr lang="en-US" dirty="0" err="1"/>
              <a:t>msec</a:t>
            </a:r>
            <a:r>
              <a:rPr lang="en-US" dirty="0"/>
              <a:t> / 64 </a:t>
            </a:r>
            <a:r>
              <a:rPr lang="en-US" dirty="0" err="1"/>
              <a:t>msec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a = 2.34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Calculating Optimal Sender Window Size-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Optimal sender window size</a:t>
            </a:r>
          </a:p>
          <a:p>
            <a:pPr marL="0" indent="0" fontAlgn="base">
              <a:buNone/>
            </a:pPr>
            <a:r>
              <a:rPr lang="en-US" dirty="0"/>
              <a:t>= 1 + 2a</a:t>
            </a:r>
          </a:p>
          <a:p>
            <a:pPr marL="0" indent="0" fontAlgn="base">
              <a:buNone/>
            </a:pPr>
            <a:r>
              <a:rPr lang="en-US" dirty="0"/>
              <a:t>= 1 + 2 x 2.34</a:t>
            </a:r>
          </a:p>
          <a:p>
            <a:pPr marL="0" indent="0" fontAlgn="base">
              <a:buNone/>
            </a:pPr>
            <a:r>
              <a:rPr lang="en-US" dirty="0"/>
              <a:t>= ⌈5.68⌉</a:t>
            </a:r>
          </a:p>
          <a:p>
            <a:pPr marL="0" indent="0" fontAlgn="base">
              <a:buNone/>
            </a:pPr>
            <a:r>
              <a:rPr lang="en-US" dirty="0"/>
              <a:t>= 6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Calculating Number Of Sequence Numbers Required-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In SR Protocol, sender window size and receiver window size are same.</a:t>
            </a:r>
          </a:p>
          <a:p>
            <a:pPr marL="0" indent="0" fontAlgn="base">
              <a:buNone/>
            </a:pPr>
            <a:r>
              <a:rPr lang="en-US" dirty="0"/>
              <a:t>So, sender window size = receiver window size = 6</a:t>
            </a:r>
          </a:p>
          <a:p>
            <a:pPr marL="0" indent="0" fontAlgn="base">
              <a:buNone/>
            </a:pPr>
            <a:r>
              <a:rPr lang="en-US" dirty="0"/>
              <a:t>For any sliding window protocol, minimum number of sequence numbers required</a:t>
            </a:r>
          </a:p>
          <a:p>
            <a:pPr marL="0" indent="0" fontAlgn="base">
              <a:buNone/>
            </a:pPr>
            <a:r>
              <a:rPr lang="en-US" dirty="0"/>
              <a:t>= Sender window size + Receiver window size</a:t>
            </a:r>
          </a:p>
          <a:p>
            <a:pPr marL="0" indent="0" fontAlgn="base">
              <a:buNone/>
            </a:pPr>
            <a:r>
              <a:rPr lang="en-US" dirty="0"/>
              <a:t>= 6 + 6</a:t>
            </a:r>
          </a:p>
          <a:p>
            <a:pPr marL="0" indent="0" fontAlgn="base">
              <a:buNone/>
            </a:pPr>
            <a:r>
              <a:rPr lang="en-US" dirty="0"/>
              <a:t>= 12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3955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6854"/>
            <a:ext cx="10515600" cy="5576462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000" b="1" u="sng" dirty="0"/>
              <a:t>Min bits required in </a:t>
            </a:r>
            <a:r>
              <a:rPr lang="en-US" sz="2000" b="1" u="sng" dirty="0" err="1"/>
              <a:t>seq</a:t>
            </a:r>
            <a:r>
              <a:rPr lang="en-US" sz="2000" b="1" u="sng" dirty="0"/>
              <a:t> number field-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dirty="0"/>
              <a:t>⌈ log</a:t>
            </a:r>
            <a:r>
              <a:rPr lang="en-US" sz="2000" baseline="-25000" dirty="0"/>
              <a:t>2</a:t>
            </a:r>
            <a:r>
              <a:rPr lang="en-US" sz="2000" dirty="0"/>
              <a:t> (12)</a:t>
            </a:r>
            <a:r>
              <a:rPr lang="en-US" sz="2400" dirty="0"/>
              <a:t> ⌉</a:t>
            </a:r>
          </a:p>
          <a:p>
            <a:pPr marL="0" indent="0" fontAlgn="base">
              <a:buNone/>
            </a:pPr>
            <a:r>
              <a:rPr lang="en-US" sz="2400" dirty="0"/>
              <a:t>= ⌈ 3.585⌉</a:t>
            </a:r>
          </a:p>
          <a:p>
            <a:pPr marL="0" indent="0" fontAlgn="base">
              <a:buNone/>
            </a:pPr>
            <a:r>
              <a:rPr lang="en-US" sz="2400" dirty="0"/>
              <a:t>= 4</a:t>
            </a:r>
          </a:p>
          <a:p>
            <a:pPr marL="0" indent="0" fontAlgn="base">
              <a:buNone/>
            </a:pPr>
            <a:endParaRPr lang="en-US" sz="2400" dirty="0"/>
          </a:p>
          <a:p>
            <a:pPr marL="0" indent="0" fontAlgn="base">
              <a:buNone/>
            </a:pPr>
            <a:endParaRPr lang="en-US" sz="2400" dirty="0"/>
          </a:p>
          <a:p>
            <a:pPr marL="0" indent="0" fontAlgn="base">
              <a:buNone/>
            </a:pPr>
            <a:endParaRPr lang="en-US" sz="2400" dirty="0"/>
          </a:p>
          <a:p>
            <a:pPr marL="0" indent="0" fontAlgn="base">
              <a:buNone/>
            </a:pPr>
            <a:r>
              <a:rPr lang="en-US" sz="2400" dirty="0"/>
              <a:t>Link for more problems on Go Back N: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000" i="1" dirty="0">
                <a:hlinkClick r:id="rId2"/>
              </a:rPr>
              <a:t>https://www.gatevidyalay.com/go-back-n-practice-problems/</a:t>
            </a:r>
            <a:endParaRPr lang="en-US" sz="2000" i="1" dirty="0"/>
          </a:p>
          <a:p>
            <a:pPr marL="457200" indent="-457200" fontAlgn="base">
              <a:buFont typeface="+mj-lt"/>
              <a:buAutoNum type="arabicPeriod"/>
            </a:pPr>
            <a:endParaRPr lang="en-US" sz="2000" i="1" dirty="0"/>
          </a:p>
          <a:p>
            <a:pPr marL="0" indent="0" fontAlgn="base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180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10254</TotalTime>
  <Words>1916</Words>
  <Application>Microsoft Macintosh PowerPoint</Application>
  <PresentationFormat>Widescreen</PresentationFormat>
  <Paragraphs>170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COMPUTER NETWORKS – PART 10</vt:lpstr>
      <vt:lpstr>What is Flow Control?</vt:lpstr>
      <vt:lpstr>What is Error Control?</vt:lpstr>
      <vt:lpstr>PowerPoint Presentation</vt:lpstr>
      <vt:lpstr>PowerPoint Presentation</vt:lpstr>
      <vt:lpstr>Simplest Protocol – no flow control or error control</vt:lpstr>
      <vt:lpstr>Stop and Wait Protocol – only flow control</vt:lpstr>
      <vt:lpstr>PowerPoint Presentation</vt:lpstr>
      <vt:lpstr>Stop and Wait ARQ Protocol – flow control and error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 Back N ARQ Protocol – flow control and error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Selective Repeat ARQ Protocol – flow control and error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LAYER</dc:title>
  <dc:creator>Kumar Debasis</dc:creator>
  <cp:lastModifiedBy>Kiran K</cp:lastModifiedBy>
  <cp:revision>251</cp:revision>
  <dcterms:created xsi:type="dcterms:W3CDTF">2023-01-11T01:57:50Z</dcterms:created>
  <dcterms:modified xsi:type="dcterms:W3CDTF">2025-09-10T07:16:40Z</dcterms:modified>
</cp:coreProperties>
</file>